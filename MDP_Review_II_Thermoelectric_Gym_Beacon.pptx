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9" r:id="rId18"/>
    <p:sldId id="270" r:id="rId19"/>
    <p:sldId id="268" r:id="rId5"/>
    <p:sldId id="261" r:id="rId6"/>
    <p:sldId id="262" r:id="rId7"/>
    <p:sldId id="263" r:id="rId8"/>
    <p:sldId id="264" r:id="rId9"/>
    <p:sldId id="265" r:id="rId10"/>
    <p:sldId id="266" r:id="rId11"/>
    <p:sldId id="271" r:id="rId20"/>
    <p:sldId id="272" r:id="rId2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D4A7-F724-5CA1-8B8E-9A481D09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3367F-B17C-5816-8DFA-CE0C8A820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4D2C5-EA71-DC2B-427C-1107C1622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07B83-499B-607E-7A3A-A0C12F6F2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2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17320"/>
            <a:ext cx="10972800" cy="107899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sz="2600" b="1" i="0">
                <a:solidFill>
                  <a:srgbClr val="1D2F82"/>
                </a:solidFill>
                <a:latin typeface="Calibri"/>
              </a:rPr>
              <a:t>Self-Powered Gym-Locker Beacon</a:t>
            </a:r>
            <a:br/>
            <a:r>
              <a:rPr sz="2600" b="1" i="0">
                <a:solidFill>
                  <a:srgbClr val="1D2F82"/>
                </a:solidFill>
                <a:latin typeface="Calibri"/>
              </a:rPr>
              <a:t>via Human Wearable Thermoelectric Harvesting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18288" rIns="0" bIns="0" rtlCol="0" anchor="t"/>
          <a:lstStyle/>
          <a:p>
            <a:pPr marL="0" indent="0">
              <a:buNone/>
            </a:pPr>
            <a:r>
              <a:rPr sz="1350" b="1" i="0">
                <a:solidFill>
                  <a:srgbClr val="1C202A"/>
                </a:solidFill>
                <a:latin typeface="Calibri"/>
              </a:rPr>
              <a:t>Student Team: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2816352"/>
            <a:ext cx="5440680" cy="1938528"/>
          </a:xfrm>
          <a:prstGeom prst="rect">
            <a:avLst/>
          </a:prstGeom>
          <a:noFill/>
          <a:ln/>
        </p:spPr>
        <p:txBody>
          <a:bodyPr wrap="square" lIns="18288" tIns="0" rIns="18288" bIns="0" rtlCol="0" anchor="t"/>
          <a:lstStyle/>
          <a:p>
            <a:pPr marL="0" indent="0">
              <a:buNone/>
            </a:pPr>
            <a:r>
              <a:rPr sz="1120" b="0" i="0">
                <a:solidFill>
                  <a:srgbClr val="1C202A"/>
                </a:solidFill>
                <a:latin typeface="Calibri"/>
              </a:rPr>
              <a:t>Naasim Theyyambattil — 26BYB1051</a:t>
            </a:r>
            <a:br/>
            <a:r>
              <a:rPr sz="1120" b="0" i="0">
                <a:solidFill>
                  <a:srgbClr val="1C202A"/>
                </a:solidFill>
                <a:latin typeface="Calibri"/>
              </a:rPr>
              <a:t>Amruth Reddy Yamasani — 26BRS1148</a:t>
            </a:r>
            <a:br/>
            <a:r>
              <a:rPr sz="1120" b="0" i="0">
                <a:solidFill>
                  <a:srgbClr val="1C202A"/>
                </a:solidFill>
                <a:latin typeface="Calibri"/>
              </a:rPr>
              <a:t>Shreyas Jha — 26BRS1149</a:t>
            </a:r>
            <a:br/>
            <a:r>
              <a:rPr sz="1120" b="0" i="0">
                <a:solidFill>
                  <a:srgbClr val="1C202A"/>
                </a:solidFill>
                <a:latin typeface="Calibri"/>
              </a:rPr>
              <a:t>V. Monish Shri Hari — 26BVD1072</a:t>
            </a:r>
            <a:br/>
            <a:r>
              <a:rPr sz="1120" b="0" i="0">
                <a:solidFill>
                  <a:srgbClr val="1C202A"/>
                </a:solidFill>
                <a:latin typeface="Calibri"/>
              </a:rPr>
              <a:t>Mridula Muthukumaran — 26BEC1637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40280" y="4791456"/>
            <a:ext cx="5440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86384" y="4882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 b="1" i="0">
                <a:solidFill>
                  <a:srgbClr val="1C202A"/>
                </a:solidFill>
                <a:latin typeface="Calibri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48828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20" b="0" i="0">
                <a:solidFill>
                  <a:srgbClr val="1C202A"/>
                </a:solidFill>
                <a:latin typeface="Calibri"/>
              </a:rPr>
              <a:t>JEIPRATHA P 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40280" y="5175504"/>
            <a:ext cx="5440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86384" y="5230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 b="1" i="0">
                <a:solidFill>
                  <a:srgbClr val="1C202A"/>
                </a:solidFill>
                <a:latin typeface="Calibri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523036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20" b="0" i="0">
                <a:solidFill>
                  <a:srgbClr val="1C202A"/>
                </a:solidFill>
                <a:latin typeface="Calibri"/>
              </a:rPr>
              <a:t>B.Tech — AI Robotics (FEPT),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240280" y="5522976"/>
            <a:ext cx="5440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86384" y="5577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 b="1" i="0">
                <a:solidFill>
                  <a:srgbClr val="1C202A"/>
                </a:solidFill>
                <a:latin typeface="Calibri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5577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20" b="0" i="0">
                <a:solidFill>
                  <a:srgbClr val="1C202A"/>
                </a:solidFill>
                <a:latin typeface="Calibri"/>
              </a:rPr>
              <a:t>Review-II · 14.10.2026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240280" y="5870448"/>
            <a:ext cx="5440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18288" rIns="0" bIns="0" rtlCol="0" anchor="t"/>
          <a:lstStyle/>
          <a:p>
            <a:pPr marL="0" indent="0">
              <a:buNone/>
            </a:pPr>
            <a:r>
              <a:rPr sz="1250" b="1" i="0">
                <a:solidFill>
                  <a:srgbClr val="1D2F82"/>
                </a:solidFill>
                <a:latin typeface="Calibri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6108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50" b="0" i="0">
                <a:solidFill>
                  <a:srgbClr val="586070"/>
                </a:solidFill>
                <a:latin typeface="Calibri"/>
              </a:rPr>
              <a:t>Approval is mandatory before the review. Guide signature and dated scanned approval must be inserted before final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177800" indent="-177800"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  <a:buSzPct val="100000"/>
              <a:buChar char="•"/>
            </a:pPr>
            <a:r>
              <a:rPr sz="1520" b="1" i="0">
                <a:solidFill>
                  <a:srgbClr val="1D2F82"/>
                </a:solidFill>
                <a:latin typeface="Calibri"/>
              </a:rPr>
              <a:t>Problem statement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20" b="0" i="0">
                <a:solidFill>
                  <a:srgbClr val="1C202A"/>
                </a:solidFill>
                <a:latin typeface="Calibri"/>
              </a:rPr>
              <a:t>Wearable gym/locker beacons typically need a battery or regular charging. Replacing many small batteries adds maintenance and e-waste; a body-heat harvester could reduce that burden, but available thermal power is small and varies with the environment.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</a:pPr>
            <a:r>
              <a:rPr sz="1520" b="1" i="0">
                <a:solidFill>
                  <a:srgbClr val="1D2F82"/>
                </a:solidFill>
                <a:latin typeface="Calibri"/>
              </a:rPr>
              <a:t>Project objective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20" b="0" i="0">
                <a:solidFill>
                  <a:srgbClr val="1C202A"/>
                </a:solidFill>
                <a:latin typeface="Calibri"/>
              </a:rPr>
              <a:t>•  Design a wrist-worn proof of concept that harvests skin-to-ambient heat using a thermoelectric generator (TEG).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20" b="0" i="0">
                <a:solidFill>
                  <a:srgbClr val="1C202A"/>
                </a:solidFill>
                <a:latin typeface="Calibri"/>
              </a:rPr>
              <a:t>•  Condition and store the low-voltage output with an LTC3108-based energy-harvesting stage and a supercapacitor.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20" b="0" i="0">
                <a:solidFill>
                  <a:srgbClr val="1C202A"/>
                </a:solidFill>
                <a:latin typeface="Calibri"/>
              </a:rPr>
              <a:t>•  Test whether stored energy can support a short Bluetooth Low Energy (BLE) locator advertisement from an ultra-low-power controller.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</a:pPr>
            <a:r>
              <a:rPr sz="1520" b="1" i="0">
                <a:solidFill>
                  <a:srgbClr val="1D2F82"/>
                </a:solidFill>
                <a:latin typeface="Calibri"/>
              </a:rPr>
              <a:t>Review-II scope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20" b="0" i="0">
                <a:solidFill>
                  <a:srgbClr val="1C202A"/>
                </a:solidFill>
                <a:latin typeface="Calibri"/>
              </a:rPr>
              <a:t>This is proposal-stage work: no circuit has been built and no measurements have been collected yet. Claims about 10–50 mV, sweat-assisted cooling and battery-free operation are hypotheses to validate, not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Detailed Literature Review (1/3)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91672" cy="387705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Smith &amp; Johnston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(2021)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Skin-worn TEGs for body-heat harvesting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Experimental wearable setup measuring voltage, power and energy at the skin.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Shows that real worn-condition output must be measured. Gap: not designed around this project’s BLE burst budget.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Sun, Wang &amp; Jiang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(2022)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Challenges and strategies for human-body TEGs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Review of device physics, heat transfer, materials and wearable integration.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Small temperature differences and thermal interfaces limit output. Gap: no specific wrist-beacon implementation.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Zhu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(2022)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Wearable TEGs: devices to applications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Review of inorganic TEG materials, topology, fabrication and applications.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Thermal-gradient and geometry optimization are central. Gap: end-to-end stored-energy vs. radio-event validation.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Fan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(2022)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High-power-density wearable TEGs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Rigid, substrate-free generator with 48 p–n pairs; tests with/without airflow.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Reported 7.9 µW/cm² without airflow and 43.6 µW/cm² under walking-like airflow. Gap: specialized device, not a stock TEC1-12706 wrist assembly.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[5]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Tabaie &amp; Omidvar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(2023)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Body-heat TEGs for wearable electronics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Review of recent body-heat harvesting systems and limiting factors.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Skin contact, environmental conditions and low ΔT strongly affect performance. Gap: application-specific power management remains needed.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[6]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Liu, Riba &amp; Moreno-Eguilaz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(2023)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BLE sensor-node energy balance with TEG harvesting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Models and evaluates the energy balance of BLE wireless sensor nodes powered by TEGs.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Closest precedent for pairing BLE with TEGs: harvested energy must exceed node and radio energy. Gap: different node, source and duty cycle.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6811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30" b="0" i="0">
                <a:solidFill>
                  <a:srgbClr val="586070"/>
                </a:solidFill>
                <a:latin typeface="Calibri"/>
              </a:rPr>
              <a:t>Body-heat harvesters are environment- and interface-dependent; compare outputs only when ΔT, airflow and load are stated.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B7610-4290-298A-76B3-99CE4739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5A21F9-580D-D066-01C9-9499A06E95A2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6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8185C3-E325-CDC7-CD24-D958A09ED7E6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Formulation of the Problem</a:t>
            </a:r>
            <a:endParaRPr lang="en-US" sz="2800" dirty="0"/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D607C6DA-F8F0-02D2-C016-90838119F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417320"/>
            <a:ext cx="2468880" cy="9144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40" b="1" i="0">
                <a:solidFill>
                  <a:srgbClr val="1C202A"/>
                </a:solidFill>
                <a:latin typeface="Calibri"/>
              </a:rPr>
              <a:t>Battery maintenance</a:t>
            </a:r>
            <a:br/>
            <a:r>
              <a:rPr sz="1240" b="1" i="0">
                <a:solidFill>
                  <a:srgbClr val="1C202A"/>
                </a:solidFill>
                <a:latin typeface="Calibri"/>
              </a:rPr>
              <a:t>&amp; replacement burden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63240" y="1874519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19856" y="1417320"/>
            <a:ext cx="2468880" cy="9144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40" b="1" i="0">
                <a:solidFill>
                  <a:srgbClr val="1C202A"/>
                </a:solidFill>
                <a:latin typeface="Calibri"/>
              </a:rPr>
              <a:t>Tiny, variable heat</a:t>
            </a:r>
            <a:br/>
            <a:r>
              <a:rPr sz="1240" b="1" i="0">
                <a:solidFill>
                  <a:srgbClr val="1C202A"/>
                </a:solidFill>
                <a:latin typeface="Calibri"/>
              </a:rPr>
              <a:t>energy available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16168" y="1874519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72784" y="1417320"/>
            <a:ext cx="2468880" cy="9144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40" b="1" i="0">
                <a:solidFill>
                  <a:srgbClr val="1C202A"/>
                </a:solidFill>
                <a:latin typeface="Calibri"/>
              </a:rPr>
              <a:t>Energy conversion,</a:t>
            </a:r>
            <a:br/>
            <a:r>
              <a:rPr sz="1240" b="1" i="0">
                <a:solidFill>
                  <a:srgbClr val="1C202A"/>
                </a:solidFill>
                <a:latin typeface="Calibri"/>
              </a:rPr>
              <a:t>storage &amp; radio peaks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69096" y="1874519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25712" y="1417320"/>
            <a:ext cx="2450592" cy="9144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20" b="1" i="0">
                <a:solidFill>
                  <a:srgbClr val="1C202A"/>
                </a:solidFill>
                <a:latin typeface="Calibri"/>
              </a:rPr>
              <a:t>Need measurable</a:t>
            </a:r>
            <a:br/>
            <a:r>
              <a:rPr sz="1220" b="1" i="0">
                <a:solidFill>
                  <a:srgbClr val="1C202A"/>
                </a:solidFill>
                <a:latin typeface="Calibri"/>
              </a:rPr>
              <a:t>energy-neutral bursts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70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D2F82"/>
                </a:solidFill>
                <a:latin typeface="Calibri"/>
              </a:rPr>
              <a:t>Core feasibility 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2"/>
            <a:ext cx="10881360" cy="777240"/>
          </a:xfrm>
          <a:prstGeom prst="rect">
            <a:avLst/>
          </a:prstGeom>
          <a:solidFill>
            <a:srgbClr val="F7F8FB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54864" rIns="118872" bIns="54864"/>
          <a:lstStyle/>
          <a:p>
            <a:pPr algn="ctr"/>
            <a:r>
              <a:rPr sz="1600" b="1" i="0">
                <a:solidFill>
                  <a:srgbClr val="1C202A"/>
                </a:solidFill>
                <a:latin typeface="Calibri"/>
              </a:rPr>
              <a:t>Energy harvested and stored between bursts must cover startup + controller wake + BLE advertisement + conversion/leakage losses.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422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 i="0">
                <a:solidFill>
                  <a:srgbClr val="1D2F82"/>
                </a:solidFill>
                <a:latin typeface="Calibri"/>
              </a:rPr>
              <a:t>Critical assumptions to test (not yet demonstrated)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544568"/>
            <a:ext cx="3456432" cy="1078992"/>
          </a:xfrm>
          <a:prstGeom prst="rect">
            <a:avLst/>
          </a:prstGeom>
          <a:solidFill>
            <a:srgbClr val="FFFFFF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1C202A"/>
                </a:solidFill>
                <a:latin typeface="Calibri"/>
              </a:rPr>
              <a:t>1  A useful ΔT exists across the</a:t>
            </a:r>
            <a:br/>
            <a:r>
              <a:rPr sz="1200" b="1" i="0">
                <a:solidFill>
                  <a:srgbClr val="1C202A"/>
                </a:solidFill>
                <a:latin typeface="Calibri"/>
              </a:rPr>
              <a:t>TEG during real wear.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4544568"/>
            <a:ext cx="3456432" cy="1078992"/>
          </a:xfrm>
          <a:prstGeom prst="rect">
            <a:avLst/>
          </a:prstGeom>
          <a:solidFill>
            <a:srgbClr val="FFFFFF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1C202A"/>
                </a:solidFill>
                <a:latin typeface="Calibri"/>
              </a:rPr>
              <a:t>2  The LTC3108 starts and charges</a:t>
            </a:r>
            <a:br/>
            <a:r>
              <a:rPr sz="1200" b="1" i="0">
                <a:solidFill>
                  <a:srgbClr val="1C202A"/>
                </a:solidFill>
                <a:latin typeface="Calibri"/>
              </a:rPr>
              <a:t>the reservoir at measured input.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544568"/>
            <a:ext cx="3456432" cy="1078992"/>
          </a:xfrm>
          <a:prstGeom prst="rect">
            <a:avLst/>
          </a:prstGeom>
          <a:solidFill>
            <a:srgbClr val="FFFFFF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1C202A"/>
                </a:solidFill>
                <a:latin typeface="Calibri"/>
              </a:rPr>
              <a:t>3  The stored energy supports a</a:t>
            </a:r>
            <a:br/>
            <a:r>
              <a:rPr sz="1200" b="1" i="0">
                <a:solidFill>
                  <a:srgbClr val="1C202A"/>
                </a:solidFill>
                <a:latin typeface="Calibri"/>
              </a:rPr>
              <a:t>repeatable BLE packet without reset.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521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40" b="0" i="0">
                <a:solidFill>
                  <a:srgbClr val="586070"/>
                </a:solidFill>
                <a:latin typeface="Calibri"/>
              </a:rPr>
              <a:t>Design note: the proposal’s 10–50 mV is an estimate to verify under load; the LTC3108’s 20 mV minimum-input specification does not itself guarantee startup or sufficient harvested power.</a:t>
            </a:r>
          </a:p>
        </p:txBody>
      </p:sp>
    </p:spTree>
    <p:extLst>
      <p:ext uri="{BB962C8B-B14F-4D97-AF65-F5344CB8AC3E}">
        <p14:creationId xmlns:p14="http://schemas.microsoft.com/office/powerpoint/2010/main" val="143949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572768"/>
            <a:ext cx="1664208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90" b="1" i="0">
                <a:solidFill>
                  <a:srgbClr val="1C202A"/>
                </a:solidFill>
                <a:latin typeface="Calibri"/>
              </a:rPr>
              <a:t>Heat source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Skin ↔ ambient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ΔT varies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9424" y="2144268"/>
            <a:ext cx="201168" cy="0"/>
          </a:xfrm>
          <a:prstGeom prst="line">
            <a:avLst/>
          </a:prstGeom>
          <a:ln w="15875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68880" y="1572768"/>
            <a:ext cx="1664208" cy="11430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90" b="1" i="0">
                <a:solidFill>
                  <a:srgbClr val="1C202A"/>
                </a:solidFill>
                <a:latin typeface="Calibri"/>
              </a:rPr>
              <a:t>TEG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Candidate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TEC1-12706*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51376" y="2144268"/>
            <a:ext cx="201168" cy="0"/>
          </a:xfrm>
          <a:prstGeom prst="line">
            <a:avLst/>
          </a:prstGeom>
          <a:ln w="15875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370831" y="1572768"/>
            <a:ext cx="1755648" cy="11430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90" b="1" i="0">
                <a:solidFill>
                  <a:srgbClr val="1C202A"/>
                </a:solidFill>
                <a:latin typeface="Calibri"/>
              </a:rPr>
              <a:t>Power stage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LTC3108 +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matched transformer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44767" y="2144268"/>
            <a:ext cx="201169" cy="0"/>
          </a:xfrm>
          <a:prstGeom prst="line">
            <a:avLst/>
          </a:prstGeom>
          <a:ln w="15875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64224" y="1572768"/>
            <a:ext cx="1664208" cy="114300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90" b="1" i="0">
                <a:solidFill>
                  <a:srgbClr val="1C202A"/>
                </a:solidFill>
                <a:latin typeface="Calibri"/>
              </a:rPr>
              <a:t>Reservoir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0.22–1.0 F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supercapacitor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144268"/>
            <a:ext cx="201168" cy="0"/>
          </a:xfrm>
          <a:prstGeom prst="line">
            <a:avLst/>
          </a:prstGeom>
          <a:ln w="15875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66175" y="1572768"/>
            <a:ext cx="1664208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90" b="1" i="0">
                <a:solidFill>
                  <a:srgbClr val="1C202A"/>
                </a:solidFill>
                <a:latin typeface="Calibri"/>
              </a:rPr>
              <a:t>Controller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ESP32-C3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(short wake)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48672" y="2144268"/>
            <a:ext cx="201168" cy="0"/>
          </a:xfrm>
          <a:prstGeom prst="line">
            <a:avLst/>
          </a:prstGeom>
          <a:ln w="15875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168128" y="1572768"/>
            <a:ext cx="1664208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90" b="1" i="0">
                <a:solidFill>
                  <a:srgbClr val="1C202A"/>
                </a:solidFill>
                <a:latin typeface="Calibri"/>
              </a:rPr>
              <a:t>Locator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BLE advertise</a:t>
            </a:r>
            <a:br/>
            <a:r>
              <a:rPr sz="1090" b="1" i="0">
                <a:solidFill>
                  <a:srgbClr val="1C202A"/>
                </a:solidFill>
                <a:latin typeface="Calibri"/>
              </a:rPr>
              <a:t>then power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26664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20" b="1" i="0">
                <a:solidFill>
                  <a:srgbClr val="1D2F82"/>
                </a:solidFill>
                <a:latin typeface="Calibri"/>
              </a:rPr>
              <a:t>Wake / transmit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383280"/>
            <a:ext cx="2395728" cy="694944"/>
          </a:xfrm>
          <a:prstGeom prst="rect">
            <a:avLst/>
          </a:prstGeom>
          <a:solidFill>
            <a:srgbClr val="F7F8FB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 i="0">
                <a:solidFill>
                  <a:srgbClr val="1C202A"/>
                </a:solidFill>
                <a:latin typeface="Calibri"/>
              </a:rPr>
              <a:t>Charge while radio</a:t>
            </a:r>
            <a:br/>
            <a:r>
              <a:rPr sz="1150" b="1" i="0">
                <a:solidFill>
                  <a:srgbClr val="1C202A"/>
                </a:solidFill>
                <a:latin typeface="Calibri"/>
              </a:rPr>
              <a:t>remains inactive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90672" y="3730752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56432" y="3383280"/>
            <a:ext cx="2395728" cy="694944"/>
          </a:xfrm>
          <a:prstGeom prst="rect">
            <a:avLst/>
          </a:prstGeom>
          <a:solidFill>
            <a:srgbClr val="F7F8FB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 i="0">
                <a:solidFill>
                  <a:srgbClr val="1C202A"/>
                </a:solidFill>
                <a:latin typeface="Calibri"/>
              </a:rPr>
              <a:t>Reservoir reaches</a:t>
            </a:r>
            <a:br/>
            <a:r>
              <a:rPr sz="1150" b="1" i="0">
                <a:solidFill>
                  <a:srgbClr val="1C202A"/>
                </a:solidFill>
                <a:latin typeface="Calibri"/>
              </a:rPr>
              <a:t>validated threshold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88736" y="3730752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54496" y="3383280"/>
            <a:ext cx="2395728" cy="694944"/>
          </a:xfrm>
          <a:prstGeom prst="rect">
            <a:avLst/>
          </a:prstGeom>
          <a:solidFill>
            <a:srgbClr val="F7F8FB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 i="0">
                <a:solidFill>
                  <a:srgbClr val="1C202A"/>
                </a:solidFill>
                <a:latin typeface="Calibri"/>
              </a:rPr>
              <a:t>Enable controller; send</a:t>
            </a:r>
            <a:br/>
            <a:r>
              <a:rPr sz="1150" b="1" i="0">
                <a:solidFill>
                  <a:srgbClr val="1C202A"/>
                </a:solidFill>
                <a:latin typeface="Calibri"/>
              </a:rPr>
              <a:t>one short BLE 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3730752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052560" y="3383280"/>
            <a:ext cx="2468880" cy="694944"/>
          </a:xfrm>
          <a:prstGeom prst="rect">
            <a:avLst/>
          </a:prstGeom>
          <a:solidFill>
            <a:srgbClr val="F7F8FB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1" i="0">
                <a:solidFill>
                  <a:srgbClr val="1C202A"/>
                </a:solidFill>
                <a:latin typeface="Calibri"/>
              </a:rPr>
              <a:t>Return to off / deep-sleep</a:t>
            </a:r>
            <a:br/>
            <a:r>
              <a:rPr sz="1120" b="1" i="0">
                <a:solidFill>
                  <a:srgbClr val="1C202A"/>
                </a:solidFill>
                <a:latin typeface="Calibri"/>
              </a:rPr>
              <a:t>state; repeat if energy allows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1655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1D2F82"/>
                </a:solidFill>
                <a:latin typeface="Calibri"/>
              </a:rPr>
              <a:t>Instrumentation path (for validation)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54880"/>
            <a:ext cx="10881360" cy="859536"/>
          </a:xfrm>
          <a:prstGeom prst="rect">
            <a:avLst/>
          </a:prstGeom>
          <a:solidFill>
            <a:srgbClr val="FFFFFF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37160" bIns="73152"/>
          <a:lstStyle/>
          <a:p>
            <a:pPr algn="l"/>
            <a:r>
              <a:rPr sz="1200" b="0" i="0">
                <a:solidFill>
                  <a:srgbClr val="1C202A"/>
                </a:solidFill>
                <a:latin typeface="Calibri"/>
              </a:rPr>
              <a:t>Measure Tskin, Tambient and TEG-face temperatures; record VTEG (open-circuit and loaded), Vcap vs. time, charge/discharge current, wake/advertisement energy, advertising success and range.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7900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40" b="0" i="0">
                <a:solidFill>
                  <a:srgbClr val="586070"/>
                </a:solidFill>
                <a:latin typeface="Calibri"/>
              </a:rPr>
              <a:t>* TEC1-12706 is a candidate module used in generator mode; suitability and loaded output are unverified. Consider benchmarking a dedicated TEG if output is inadequate.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Implementation Details — Planned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44168"/>
            <a:ext cx="5486400" cy="49834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177800" indent="-177800"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  <a:buSzPct val="100000"/>
              <a:buChar char="•"/>
            </a:pPr>
            <a:r>
              <a:rPr sz="1270" b="1" i="0">
                <a:solidFill>
                  <a:srgbClr val="1D2F82"/>
                </a:solidFill>
                <a:latin typeface="Calibri"/>
              </a:rPr>
              <a:t>Status at Review-II</a:t>
            </a:r>
            <a:endParaRPr lang="en-US" sz="1600"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No hardware, CAD enclosure or firmware has been completed yet. The items below are the implementation plan, not completed modules.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</a:pPr>
            <a:r>
              <a:rPr sz="1270" b="1" i="0">
                <a:solidFill>
                  <a:srgbClr val="1D2F82"/>
                </a:solidFill>
                <a:latin typeface="Calibri"/>
              </a:rPr>
              <a:t>Hardware workstream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•  Characterize TEG open-circuit voltage and loaded power across controlled temperature differences.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•  Validate LTC3108 board/transformer compatibility and reservoir charging before connecting the radio.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•  Measure capacitor leakage, usable voltage window and startup/restart behavior.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</a:pPr>
            <a:r>
              <a:rPr sz="1270" b="1" i="0">
                <a:solidFill>
                  <a:srgbClr val="1D2F82"/>
                </a:solidFill>
                <a:latin typeface="Calibri"/>
              </a:rPr>
              <a:t>Firmware workstream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•  Use a controllable enable/power-gating path; avoid relying on development-board deep sleep as proof of microamp system current.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•  Transmit one short BLE advertisement per qualified charge threshold; record resets and packet success.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</a:pPr>
            <a:r>
              <a:rPr sz="1270" b="1" i="0">
                <a:solidFill>
                  <a:srgbClr val="1D2F82"/>
                </a:solidFill>
                <a:latin typeface="Calibri"/>
              </a:rPr>
              <a:t>Planned control logic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70" b="0" i="0">
                <a:solidFill>
                  <a:srgbClr val="1C202A"/>
                </a:solidFill>
                <a:latin typeface="Calibri"/>
              </a:rPr>
              <a:t>Charge → check power-good / reservoir threshold → advertise once → disable radio/controller → recharge. Thresholds and timing will be set only after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408176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D2F82"/>
                </a:solidFill>
                <a:latin typeface="Calibri"/>
              </a:rPr>
              <a:t>Illustrative control flow (not compiled firmware)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801368"/>
            <a:ext cx="5074920" cy="3072384"/>
          </a:xfrm>
          <a:prstGeom prst="rect">
            <a:avLst/>
          </a:prstGeom>
          <a:solidFill>
            <a:srgbClr val="F7F8FB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929384"/>
            <a:ext cx="4754880" cy="2834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 i="0">
                <a:solidFill>
                  <a:srgbClr val="1C202A"/>
                </a:solidFill>
                <a:latin typeface="Consolas"/>
              </a:rPr>
              <a:t>loop: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keep_controller_off()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wait_until(reservoir_ready)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if voltage_is_safe():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    enable_controller()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    advertise_BLE_once()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    log_event_energy_if_instrumented()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    disable_controller()</a:t>
            </a:r>
            <a:br/>
            <a:r>
              <a:rPr sz="1150" b="0" i="0">
                <a:solidFill>
                  <a:srgbClr val="1C202A"/>
                </a:solidFill>
                <a:latin typeface="Consolas"/>
              </a:rPr>
              <a:t>  return_to_charge_state()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084064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D2F82"/>
                </a:solidFill>
                <a:latin typeface="Calibri"/>
              </a:rPr>
              <a:t>Acceptance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5431536"/>
            <a:ext cx="4892040" cy="777240"/>
          </a:xfrm>
          <a:prstGeom prst="rect">
            <a:avLst/>
          </a:prstGeom>
          <a:noFill/>
        </p:spPr>
        <p:txBody>
          <a:bodyPr wrap="square" lIns="18288" tIns="9144" rIns="9144" bIns="9144" anchor="t">
            <a:spAutoFit/>
          </a:bodyPr>
          <a:lstStyle/>
          <a:p>
            <a:r>
              <a:rPr sz="1080" b="0" i="0">
                <a:solidFill>
                  <a:srgbClr val="1C202A"/>
                </a:solidFill>
                <a:latin typeface="Calibri"/>
              </a:rPr>
              <a:t>• LTC3108 starts with the measured TEG source.</a:t>
            </a:r>
            <a:br/>
            <a:r>
              <a:rPr sz="1080" b="0" i="0">
                <a:solidFill>
                  <a:srgbClr val="1C202A"/>
                </a:solidFill>
                <a:latin typeface="Calibri"/>
              </a:rPr>
              <a:t>• Reservoir charges above controller brownout.</a:t>
            </a:r>
            <a:br/>
            <a:r>
              <a:rPr sz="1080" b="0" i="0">
                <a:solidFill>
                  <a:srgbClr val="1C202A"/>
                </a:solidFill>
                <a:latin typeface="Calibri"/>
              </a:rPr>
              <a:t>• One BLE event succeeds without an external battery.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Results &amp; Analysis (20%) — Current Evidence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53312"/>
            <a:ext cx="10927080" cy="640080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1C202A"/>
                </a:solidFill>
                <a:latin typeface="Calibri"/>
              </a:rPr>
              <a:t>No experimental results collected yet — prototype and measurements are still pending.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2199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D2F82"/>
                </a:solidFill>
                <a:latin typeface="Calibri"/>
              </a:rPr>
              <a:t>Baseline evidence 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96896"/>
            <a:ext cx="2194560" cy="557784"/>
          </a:xfrm>
          <a:prstGeom prst="rect">
            <a:avLst/>
          </a:prstGeom>
          <a:solidFill>
            <a:srgbClr val="1D2F82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27432" rIns="36576" bIns="27432"/>
          <a:lstStyle/>
          <a:p>
            <a:pPr algn="ctr"/>
            <a:r>
              <a:rPr sz="103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2596896"/>
            <a:ext cx="2148840" cy="557784"/>
          </a:xfrm>
          <a:prstGeom prst="rect">
            <a:avLst/>
          </a:prstGeom>
          <a:solidFill>
            <a:srgbClr val="1D2F82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27432" rIns="36576" bIns="27432"/>
          <a:lstStyle/>
          <a:p>
            <a:pPr algn="ctr"/>
            <a:r>
              <a:rPr sz="1030" b="1" i="0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1768" y="2596896"/>
            <a:ext cx="3017520" cy="557784"/>
          </a:xfrm>
          <a:prstGeom prst="rect">
            <a:avLst/>
          </a:prstGeom>
          <a:solidFill>
            <a:srgbClr val="1D2F82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27432" rIns="36576" bIns="27432"/>
          <a:lstStyle/>
          <a:p>
            <a:pPr algn="ctr"/>
            <a:r>
              <a:rPr sz="1030" b="1" i="0">
                <a:solidFill>
                  <a:srgbClr val="FFFFFF"/>
                </a:solidFill>
                <a:latin typeface="Calibri"/>
              </a:rPr>
              <a:t>How it will be measured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2596896"/>
            <a:ext cx="3566160" cy="557784"/>
          </a:xfrm>
          <a:prstGeom prst="rect">
            <a:avLst/>
          </a:prstGeom>
          <a:solidFill>
            <a:srgbClr val="1D2F82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27432" rIns="36576" bIns="27432"/>
          <a:lstStyle/>
          <a:p>
            <a:pPr algn="ctr"/>
            <a:r>
              <a:rPr sz="103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154679"/>
            <a:ext cx="219456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1" i="0">
                <a:solidFill>
                  <a:srgbClr val="1D2F82"/>
                </a:solidFill>
                <a:latin typeface="Calibri"/>
              </a:rPr>
              <a:t>TEG voltage / ΔT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2928" y="3154679"/>
            <a:ext cx="214884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913636"/>
                </a:solidFill>
                <a:latin typeface="Calibri"/>
              </a:rPr>
              <a:t>Not measured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3154679"/>
            <a:ext cx="301752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Thermocouples + DMM; open and loaded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9288" y="3154679"/>
            <a:ext cx="356616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Confirms source voltage under real conditions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12463"/>
            <a:ext cx="219456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1" i="0">
                <a:solidFill>
                  <a:srgbClr val="1D2F82"/>
                </a:solidFill>
                <a:latin typeface="Calibri"/>
              </a:rPr>
              <a:t>Loaded TEG power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3712463"/>
            <a:ext cx="214884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913636"/>
                </a:solidFill>
                <a:latin typeface="Calibri"/>
              </a:rPr>
              <a:t>Not measured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3712463"/>
            <a:ext cx="301752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Sweep known loads; calculate P = V × 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3712463"/>
            <a:ext cx="356616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Open-circuit voltage alone is insufficient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270248"/>
            <a:ext cx="219456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1" i="0">
                <a:solidFill>
                  <a:srgbClr val="1D2F82"/>
                </a:solidFill>
                <a:latin typeface="Calibri"/>
              </a:rPr>
              <a:t>Supercapacitor charge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4270248"/>
            <a:ext cx="214884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913636"/>
                </a:solidFill>
                <a:latin typeface="Calibri"/>
              </a:rPr>
              <a:t>Not measured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1768" y="4270248"/>
            <a:ext cx="301752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Record Vcap versus time and current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9288" y="4270248"/>
            <a:ext cx="356616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Estimates available stored energy / recharge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828031"/>
            <a:ext cx="219456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1" i="0">
                <a:solidFill>
                  <a:srgbClr val="1D2F82"/>
                </a:solidFill>
                <a:latin typeface="Calibri"/>
              </a:rPr>
              <a:t>BLE event energy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4828031"/>
            <a:ext cx="214884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913636"/>
                </a:solidFill>
                <a:latin typeface="Calibri"/>
              </a:rPr>
              <a:t>Not measured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1768" y="4828031"/>
            <a:ext cx="301752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Measure current over boot + advertisement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9288" y="4828031"/>
            <a:ext cx="3566160" cy="557784"/>
          </a:xfrm>
          <a:prstGeom prst="rect">
            <a:avLst/>
          </a:prstGeom>
          <a:solidFill>
            <a:srgbClr val="F7F8FB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Checks whether each burst is feasible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385816"/>
            <a:ext cx="219456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1" i="0">
                <a:solidFill>
                  <a:srgbClr val="1D2F82"/>
                </a:solidFill>
                <a:latin typeface="Calibri"/>
              </a:rPr>
              <a:t>Repeatability / 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52928" y="5385816"/>
            <a:ext cx="214884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913636"/>
                </a:solidFill>
                <a:latin typeface="Calibri"/>
              </a:rPr>
              <a:t>Not measured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1768" y="5385816"/>
            <a:ext cx="301752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Count successful ads, resets and reception distance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9288" y="5385816"/>
            <a:ext cx="356616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45720" bIns="27432"/>
          <a:lstStyle/>
          <a:p>
            <a:pPr algn="l"/>
            <a:r>
              <a:rPr sz="980" b="0" i="0">
                <a:solidFill>
                  <a:srgbClr val="1C202A"/>
                </a:solidFill>
                <a:latin typeface="Calibri"/>
              </a:rPr>
              <a:t>Checks practical locator usefulness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6071616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0">
                <a:solidFill>
                  <a:srgbClr val="586070"/>
                </a:solidFill>
                <a:latin typeface="Calibri"/>
              </a:rPr>
              <a:t>Presentation integrity: blank measurement cells are intentional; values will be added after the corresponding tests are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Results &amp; Analysis (contd.) — Feasibility Checks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3258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D2F82"/>
                </a:solidFill>
                <a:latin typeface="Calibri"/>
              </a:rPr>
              <a:t>Illustrative stored-energy calculation (not a measured result)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28216"/>
            <a:ext cx="5029200" cy="1078992"/>
          </a:xfrm>
          <a:prstGeom prst="rect">
            <a:avLst/>
          </a:prstGeom>
          <a:solidFill>
            <a:srgbClr val="EFF2FA"/>
          </a:solidFill>
          <a:ln w="13970"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C202A"/>
                </a:solidFill>
                <a:latin typeface="Calibri"/>
              </a:rPr>
              <a:t>Eusable = ½ C (Vhigh² − Vlow²)</a:t>
            </a:r>
            <a:br/>
            <a:r>
              <a:rPr sz="1300" b="1" i="0">
                <a:solidFill>
                  <a:srgbClr val="1C202A"/>
                </a:solidFill>
                <a:latin typeface="Calibri"/>
              </a:rPr>
              <a:t>For C = 0.22–1.0 F and 3.3 → 3.0 V:</a:t>
            </a:r>
            <a:br/>
            <a:r>
              <a:rPr sz="1300" b="1" i="0">
                <a:solidFill>
                  <a:srgbClr val="1C202A"/>
                </a:solidFill>
                <a:latin typeface="Calibri"/>
              </a:rPr>
              <a:t>ideal energy ≈ 0.208–0.945 J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728216"/>
            <a:ext cx="5440680" cy="1078992"/>
          </a:xfrm>
          <a:prstGeom prst="rect">
            <a:avLst/>
          </a:prstGeom>
          <a:solidFill>
            <a:srgbClr val="F7F8FB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73152" rIns="118872" bIns="73152"/>
          <a:lstStyle/>
          <a:p>
            <a:pPr algn="l"/>
            <a:r>
              <a:rPr sz="1180" b="0" i="0">
                <a:solidFill>
                  <a:srgbClr val="1C202A"/>
                </a:solidFill>
                <a:latin typeface="Calibri"/>
              </a:rPr>
              <a:t>Important limitation</a:t>
            </a:r>
            <a:br/>
            <a:r>
              <a:rPr sz="1180" b="0" i="0">
                <a:solidFill>
                  <a:srgbClr val="1C202A"/>
                </a:solidFill>
                <a:latin typeface="Calibri"/>
              </a:rPr>
              <a:t>This is an ideal capacitor calculation only. ESR, leakage, converter losses, board quiescent current and voltage brownout reduce the energy actually usable by the radio.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8152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D2F82"/>
                </a:solidFill>
                <a:latin typeface="Calibri"/>
              </a:rPr>
              <a:t>Planned go / no-go gates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493008"/>
            <a:ext cx="1874519" cy="438912"/>
          </a:xfrm>
          <a:prstGeom prst="rect">
            <a:avLst/>
          </a:prstGeom>
          <a:solidFill>
            <a:srgbClr val="EFF2FA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1" i="0">
                <a:solidFill>
                  <a:srgbClr val="1C202A"/>
                </a:solidFill>
                <a:latin typeface="Calibri"/>
              </a:rPr>
              <a:t>1 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502151"/>
            <a:ext cx="8595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120" b="0" i="0">
                <a:solidFill>
                  <a:srgbClr val="1C202A"/>
                </a:solidFill>
                <a:latin typeface="Calibri"/>
              </a:rPr>
              <a:t>Loaded TEG power is measurably above instrument noise under the intended wrist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059935"/>
            <a:ext cx="1874519" cy="438912"/>
          </a:xfrm>
          <a:prstGeom prst="rect">
            <a:avLst/>
          </a:prstGeom>
          <a:solidFill>
            <a:srgbClr val="EFF2FA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1" i="0">
                <a:solidFill>
                  <a:srgbClr val="1C202A"/>
                </a:solidFill>
                <a:latin typeface="Calibri"/>
              </a:rPr>
              <a:t>2  Harvesting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69079"/>
            <a:ext cx="8595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120" b="0" i="0">
                <a:solidFill>
                  <a:srgbClr val="1C202A"/>
                </a:solidFill>
                <a:latin typeface="Calibri"/>
              </a:rPr>
              <a:t>LTC3108 starts repeatably and charges the reservoir within the available wear interval.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626864"/>
            <a:ext cx="1874519" cy="438912"/>
          </a:xfrm>
          <a:prstGeom prst="rect">
            <a:avLst/>
          </a:prstGeom>
          <a:solidFill>
            <a:srgbClr val="EFF2FA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1" i="0">
                <a:solidFill>
                  <a:srgbClr val="1C202A"/>
                </a:solidFill>
                <a:latin typeface="Calibri"/>
              </a:rPr>
              <a:t>3  Radio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36007"/>
            <a:ext cx="8595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120" b="0" i="0">
                <a:solidFill>
                  <a:srgbClr val="1C202A"/>
                </a:solidFill>
                <a:latin typeface="Calibri"/>
              </a:rPr>
              <a:t>Stored energy covers boot + BLE advertisement with margin, without a brownout reset.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193792"/>
            <a:ext cx="1874519" cy="438912"/>
          </a:xfrm>
          <a:prstGeom prst="rect">
            <a:avLst/>
          </a:prstGeom>
          <a:solidFill>
            <a:srgbClr val="EFF2FA"/>
          </a:solidFill>
          <a:ln w="13970">
            <a:solidFill>
              <a:srgbClr val="B8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1" i="0">
                <a:solidFill>
                  <a:srgbClr val="1C202A"/>
                </a:solidFill>
                <a:latin typeface="Calibri"/>
              </a:rPr>
              <a:t>4 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202936"/>
            <a:ext cx="8595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120" b="0" i="0">
                <a:solidFill>
                  <a:srgbClr val="1C202A"/>
                </a:solidFill>
                <a:latin typeface="Calibri"/>
              </a:rPr>
              <a:t>Repeat cycles achieve a practical locator interval without external electrical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01675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69" b="0" i="0">
                <a:solidFill>
                  <a:srgbClr val="586070"/>
                </a:solidFill>
                <a:latin typeface="Calibri"/>
              </a:rPr>
              <a:t>If the measured source cannot pass Gate 1–2, revise the TEG/thermal design before attempting to claim self-powered BLE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1335024"/>
            <a:ext cx="10881360" cy="5074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177800" indent="-177800"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  <a:buSzPct val="100000"/>
              <a:buChar char="•"/>
            </a:pPr>
            <a:r>
              <a:rPr sz="1200" b="1" i="0">
                <a:solidFill>
                  <a:srgbClr val="1D2F82"/>
                </a:solidFill>
                <a:latin typeface="Calibri"/>
              </a:rPr>
              <a:t>Main technical risks and response</a:t>
            </a:r>
            <a:endParaRPr lang="en-US" sz="1600"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Low / variable thermal gradient: log skin, ambient and both TEG-face temperatures; compare still-air and moving-air conditions.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Unverified TEC1-12706 suitability: measure loaded power first and benchmark a dedicated TEG if the commercial Peltier module underperforms.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LTC3108 startup is not guaranteed by a nominal input-voltage specification alone: confirm the actual transformer, source impedance and loaded input.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BLE peak demand and development-board overhead may exceed the available energy: instrument full-board current or use a low-leakage, power-gated implementation.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Sweat, humidity, comfort and metal edges require careful enclosure design; the cooling plate benefit must be demonstrated, not assumed.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400"/>
              </a:spcAft>
            </a:pPr>
            <a:r>
              <a:rPr sz="1200" b="1" i="0">
                <a:solidFill>
                  <a:srgbClr val="1D2F82"/>
                </a:solidFill>
                <a:latin typeface="Calibri"/>
              </a:rPr>
              <a:t>Remaining work / timeline to Review-III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Week 1 — finalize literature and procurement; create safe benchtop thermal fixture.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Week 2 — characterize TEG voltage/power vs. temperature difference and load.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Week 3 — verify LTC3108 startup, capacitor charging, leakage and usable-energy window.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Week 4 — implement a single BLE burst and measure event energy; add voltage-threshold control.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1C202A"/>
                </a:solidFill>
                <a:latin typeface="Calibri"/>
              </a:rPr>
              <a:t>•  Week 5 — integrate wristband/CAD enclosure, repeat controlled trials, report limitations and measured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References (1/3)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298448"/>
            <a:ext cx="10899648" cy="47091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7800" indent="-177800"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  <a:buSzPct val="100000"/>
              <a:buChar char="•"/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[1] R. I. Smith and M. L. Johnston, “Analysis of Skin-Worn Thermoelectric Generators for Body Heat Energy Harvesting to Power Wearable Devices,” in Proc. 43rd Annu. Int. Conf. IEEE Eng. Med. Biol. Soc. (EMBC), 2021, pp. 7158–7161, doi: 10.1109/EMBC46164.2021.9629473.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[2] T. Sun, L. Wang, and W. Jiang, “Pushing thermoelectric generators toward energy harvesting from the human body: Challenges and strategies,” Materials Today, vol. 57, pp. 121–145, Jul.–Aug. 2022, doi: 10.1016/j.mattod.2022.06.001.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[3] S. Zhu et al., “Review on Wearable Thermoelectric Generators: From Devices to Applications,” Energies, vol. 15, no. 9, Art. no. 3375, 2022, doi: 10.3390/en15093375.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[4] W. Fan et al., “High-Power-Density Wearable Thermoelectric Generators for Human Body Heat Harvesting,” ACS Applied Materials &amp; Interfaces, vol. 14, no. 18, pp. 21224–21231, 2022, doi: 10.1021/acsami.2c03431.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[5] Z. Tabaie and A. Omidvar, “Human body heat-driven thermoelectric generators as a sustainable power supply for wearable electronic devices: Recent advances, challenges, and future perspectives,” Heliyon, vol. 9, no. 4, Art. no. e14707, 2023, doi: 10.1016/j.heliyon.2023.e14707.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[6] Y. Liu, J.-R. Riba, and M. Moreno-Eguilaz, “Energy Balance of Wireless Sensor Nodes Based on Bluetooth Low Energy and Thermoelectric Energy Harvesting,” Sensors, vol. 23, no. 3, Art. no. 1480, 2023, doi: 10.3390/s23031480.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607161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0" i="0">
                <a:solidFill>
                  <a:srgbClr val="586070"/>
                </a:solidFill>
                <a:latin typeface="Calibri"/>
              </a:rPr>
              <a:t>Every listed reference is cited in the literature review or technical-design slides.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15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3200" b="1" i="0">
                <a:solidFill>
                  <a:srgbClr val="1D2F82"/>
                </a:solidFill>
                <a:latin typeface="Calibri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 b="0" i="0">
                <a:solidFill>
                  <a:srgbClr val="1C202A"/>
                </a:solidFill>
                <a:latin typeface="Calibri"/>
              </a:rPr>
              <a:t>MDP (2026)  ·  SENSE  ·  VIT Chennai</a:t>
            </a:r>
            <a:br/>
            <a:r>
              <a:rPr sz="1150" b="0" i="0">
                <a:solidFill>
                  <a:srgbClr val="1C202A"/>
                </a:solidFill>
                <a:latin typeface="Calibri"/>
              </a:rPr>
              <a:t>Self-Powered Gym-Locker Beacon via Thermoelectric Harvesting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Detailed Literature Review (2/3)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91672" cy="387705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[7]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Fan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(2023)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High-performance stretchable TEG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Stretchable TEG tested on forehead at 15 °C ambient, with natural and forced airflow.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Reported 13.8 µW/cm² in still air and up to 71.8 µW/cm² at 2 m/s. Gap: conditions may not match a warm, humid gym or wrist.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[8]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Zhang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(2023)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Dynamic response of skin-waste-heat TEGs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Bioheat-transfer model including skin layers and skin–TEG thermal contact.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Predicted more than 10 min to steady state after thermal perturbation. Gap: transient wrist/sweat behavior needs measurement.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[9]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J. Liu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(2023)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Materials, structures and fabrication of wearable TEGs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Critical review of materials, device structures, fabrication and application studies.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Wearability, thermal transfer and electrical output must be co-designed. Gap: commercial module + practical storage + BLE integration.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[10]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Newby, Mirihanage &amp; Fernando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(2024)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Knitted 3D-spacer wearable TEG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Knitted 3D spacer structure with detachable p–n junctions for body-heat harvesting.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Explores flexible textile integration and replaceable junctions. Gap: no validation of a compact wrist beacon’s energy budget.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[11]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Xiao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(2024)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Organic thermoelectric materials for wearables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Review of organic thermoelectric materials and wearable-device integration.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Flexible materials can improve comfort; material conductivity and durability remain trade-offs. Gap: this project uses a candidate off-the-shelf module.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i="0">
                          <a:solidFill>
                            <a:srgbClr val="1D2F82"/>
                          </a:solidFill>
                          <a:latin typeface="Calibri"/>
                        </a:rPr>
                        <a:t>[12]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Zadan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1C202A"/>
                          </a:solidFill>
                          <a:latin typeface="Calibri"/>
                        </a:rPr>
                        <a:t>(2024)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C202A"/>
                          </a:solidFill>
                          <a:latin typeface="Calibri"/>
                        </a:rPr>
                        <a:t>Stretchable TEGs for wearable health monitoring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Stretchable composite generators characterized during sitting, walking and running.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C202A"/>
                          </a:solidFill>
                          <a:latin typeface="Calibri"/>
                        </a:rPr>
                        <a:t>Demonstrates activity-dependent wearable harvesting. Gap: radio-event energy and supercapacitor recharge time are not the target metric.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6811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30" b="0" i="0">
                <a:solidFill>
                  <a:srgbClr val="586070"/>
                </a:solidFill>
                <a:latin typeface="Calibri"/>
              </a:rPr>
              <a:t>Cross-study numbers are not directly comparable unless device area, airflow, temperature difference and electrical load match.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Detailed Literature Review (3/3)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91672" cy="190195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1D2F82"/>
                          </a:solidFill>
                          <a:latin typeface="Calibri"/>
                        </a:rPr>
                        <a:t>[13]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C202A"/>
                          </a:solidFill>
                          <a:latin typeface="Calibri"/>
                        </a:rPr>
                        <a:t>Erturun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C202A"/>
                          </a:solidFill>
                          <a:latin typeface="Calibri"/>
                        </a:rPr>
                        <a:t>(2024)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C202A"/>
                          </a:solidFill>
                          <a:latin typeface="Calibri"/>
                        </a:rPr>
                        <a:t>TEG-powered wearable sensor face mask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0" i="0">
                          <a:solidFill>
                            <a:srgbClr val="1C202A"/>
                          </a:solidFill>
                          <a:latin typeface="Calibri"/>
                        </a:rPr>
                        <a:t>Prototype combines a commercial mask, TEG and heat sink for sensor power.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0" i="0">
                          <a:solidFill>
                            <a:srgbClr val="1C202A"/>
                          </a:solidFill>
                          <a:latin typeface="Calibri"/>
                        </a:rPr>
                        <a:t>Shows a practical wearable geometry for body-heat harvesting. Gap: breathing/face thermal conditions differ from a wristband.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1D2F82"/>
                          </a:solidFill>
                          <a:latin typeface="Calibri"/>
                        </a:rPr>
                        <a:t>[14]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C202A"/>
                          </a:solidFill>
                          <a:latin typeface="Calibri"/>
                        </a:rPr>
                        <a:t>Proto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C202A"/>
                          </a:solidFill>
                          <a:latin typeface="Calibri"/>
                        </a:rPr>
                        <a:t>(2024)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C202A"/>
                          </a:solidFill>
                          <a:latin typeface="Calibri"/>
                        </a:rPr>
                        <a:t>Body-heat harvesting in real-life scenarios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0" i="0">
                          <a:solidFill>
                            <a:srgbClr val="1C202A"/>
                          </a:solidFill>
                          <a:latin typeface="Calibri"/>
                        </a:rPr>
                        <a:t>Bendable miniature TEGs with a polyacrylic heat sink; evaluated in real use.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0" i="0">
                          <a:solidFill>
                            <a:srgbClr val="1C202A"/>
                          </a:solidFill>
                          <a:latin typeface="Calibri"/>
                        </a:rPr>
                        <a:t>Reported reduced effectiveness when ambient temperature exceeds 30 °C. Gap: validate under local gym temperature/humidity and wrist airflow.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1D2F82"/>
                          </a:solidFill>
                          <a:latin typeface="Calibri"/>
                        </a:rPr>
                        <a:t>[15]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C202A"/>
                          </a:solidFill>
                          <a:latin typeface="Calibri"/>
                        </a:rPr>
                        <a:t>Kim et al.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C202A"/>
                          </a:solidFill>
                          <a:latin typeface="Calibri"/>
                        </a:rPr>
                        <a:t>(2024)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C202A"/>
                          </a:solidFill>
                          <a:latin typeface="Calibri"/>
                        </a:rPr>
                        <a:t>TEG optimization by fill factor and leg geometry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0" i="0">
                          <a:solidFill>
                            <a:srgbClr val="1C202A"/>
                          </a:solidFill>
                          <a:latin typeface="Calibri"/>
                        </a:rPr>
                        <a:t>Experimental and theoretical comparison of TEG fill factor and leg geometry.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0" i="0">
                          <a:solidFill>
                            <a:srgbClr val="1C202A"/>
                          </a:solidFill>
                          <a:latin typeface="Calibri"/>
                        </a:rPr>
                        <a:t>Generator geometry/contact resistance affects output. Gap: characterize the actual chosen module and its load-matched output.</a:t>
                      </a:r>
                    </a:p>
                  </a:txBody>
                  <a:tcPr marL="50292" marR="50292" marT="32004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 b="1" i="0">
                <a:solidFill>
                  <a:srgbClr val="1D2F82"/>
                </a:solidFill>
                <a:latin typeface="Calibri"/>
              </a:rPr>
              <a:t>Literature synthesis and project-specific gaps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D2F82"/>
                </a:solidFill>
                <a:latin typeface="Calibri"/>
              </a:rPr>
              <a:t>What the literature establishes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85615"/>
            <a:ext cx="5349240" cy="1737360"/>
          </a:xfrm>
          <a:prstGeom prst="rect">
            <a:avLst/>
          </a:prstGeom>
          <a:noFill/>
        </p:spPr>
        <p:txBody>
          <a:bodyPr wrap="square" lIns="18288" tIns="27432" rIns="27432" bIns="27432" anchor="t">
            <a:spAutoFit/>
          </a:bodyPr>
          <a:lstStyle/>
          <a:p>
            <a:r>
              <a:rPr sz="1150" b="0" i="0">
                <a:solidFill>
                  <a:srgbClr val="1C202A"/>
                </a:solidFill>
                <a:latin typeface="Calibri"/>
              </a:rPr>
              <a:t>• Wearable TEG output depends on the temperature difference actually maintained across the generator—not just skin temperature.</a:t>
            </a:r>
            <a:br/>
            <a:r>
              <a:rPr sz="1150" b="0" i="0">
                <a:solidFill>
                  <a:srgbClr val="1C202A"/>
                </a:solidFill>
                <a:latin typeface="Calibri"/>
              </a:rPr>
              <a:t>• Airflow, contact resistance, module geometry and ambient conditions can change output substantially.</a:t>
            </a:r>
            <a:br/>
            <a:r>
              <a:rPr sz="1150" b="0" i="0">
                <a:solidFill>
                  <a:srgbClr val="1C202A"/>
                </a:solidFill>
                <a:latin typeface="Calibri"/>
              </a:rPr>
              <a:t>• BLE feasibility must be judged from stored energy and measured radio-event energy, not open-circuit voltage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45643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D2F82"/>
                </a:solidFill>
                <a:latin typeface="Calibri"/>
              </a:rPr>
              <a:t>Research gap addressed by this MDP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3785615"/>
            <a:ext cx="5257800" cy="1737360"/>
          </a:xfrm>
          <a:prstGeom prst="rect">
            <a:avLst/>
          </a:prstGeom>
          <a:noFill/>
        </p:spPr>
        <p:txBody>
          <a:bodyPr wrap="square" lIns="18288" tIns="27432" rIns="27432" bIns="27432" anchor="t">
            <a:spAutoFit/>
          </a:bodyPr>
          <a:lstStyle/>
          <a:p>
            <a:r>
              <a:rPr sz="1150" b="0" i="0">
                <a:solidFill>
                  <a:srgbClr val="1C202A"/>
                </a:solidFill>
                <a:latin typeface="Calibri"/>
              </a:rPr>
              <a:t>A wrist-scale, low-cost prototype must jointly verify: (1) realistic TEG voltage and loaded power; (2) LTC3108 startup and reservoir charging; (3) capacitor energy available above the controller’s brownout limit; and (4) repeatable BLE advertising under a measured energy budget. No reviewed paper is claimed to validate this exact combination.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References (2/3)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298448"/>
            <a:ext cx="10899648" cy="47091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7800" indent="-177800"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  <a:buSzPct val="100000"/>
              <a:buChar char="•"/>
            </a:pPr>
            <a:r>
              <a:rPr sz="1050" b="0" i="0">
                <a:solidFill>
                  <a:srgbClr val="1C202A"/>
                </a:solidFill>
                <a:latin typeface="Calibri"/>
              </a:rPr>
              <a:t>[7] W. Fan et al., “High-Performance Stretchable Thermoelectric Generator for Self-Powered Wearable Electronics,” Advanced Science, vol. 10, no. 12, Art. no. 2206397, 2023, doi: 10.1002/advs.202206397.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[8] A. Zhang, D. Pang, B. Wang, and J. Wang, “Dynamic responses of wearable thermoelectric generators used for skin waste heat harvesting,” Energy, vol. 262, Part B, Art. no. 125621, 2023, doi: 10.1016/j.energy.2022.125621.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[9] J. Liu et al., “Wearable Thermoelectric Generators: Materials, Structures, Fabrications, and Applications,” physica status solidi (RRL) – Rapid Research Letters, 2023, doi: 10.1002/pssr.202200502.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[10] S. Newby, W. Mirihanage, and A. Fernando, “Wearable, Knitted 3D Spacer Thermoelectric Generator with Detachable p-n Junctions for Body Heat Energy Harvesting,” Sensors, vol. 24, no. 16, Art. no. 5140, 2024, doi: 10.3390/s24165140.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[11] R. Xiao et al., “Organic Thermoelectric Materials for Wearable Electronic Devices,” Sensors, vol. 24, no. 14, Art. no. 4600, 2024, doi: 10.3390/s24144600.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[12] A. Zadan et al., “Stretchable Thermoelectric Generators for Self-Powered Wearable Health Monitoring,” Advanced Functional Materials, vol. 34, no. 39, Art. no. 2404861, 2024, doi: 10.1002/adfm.202404861.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607161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0" i="0">
                <a:solidFill>
                  <a:srgbClr val="586070"/>
                </a:solidFill>
                <a:latin typeface="Calibri"/>
              </a:rPr>
              <a:t>Every listed reference is cited in the literature review or technical-design slides.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808080"/>
                </a:solidFill>
                <a:latin typeface="Calibri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2800" b="1" i="0">
                <a:solidFill>
                  <a:srgbClr val="1D2F82"/>
                </a:solidFill>
                <a:latin typeface="Calibri"/>
              </a:rPr>
              <a:t>References (3/3)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298448"/>
            <a:ext cx="10899648" cy="47091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7800" indent="-177800"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  <a:buSzPct val="100000"/>
              <a:buChar char="•"/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[13] U. Erturun, “Energy harvesting face mask using a thermoelectric generator for powering wearable health monitoring sensors,” Electronics Letters, 2024, doi: 10.1049/ell2.13241.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[14] A. Proto et al., “Wearable device for body heat energy harvesting in real-life scenarios,” Sensors and Actuators A: Physical, vol. 379, Art. no. 115999, 2024, doi: 10.1016/j.sna.2024.115999.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[15] J. H. Kim et al., “Experimental and Theoretical Optimization of Wearable Thermoelectric Generators Based on Fill Factor and Leg Geometry,” ACS Applied Energy Materials, vol. 7, no. 20, pp. 9315–9326, 2024, doi: 10.1021/acsaem.4c01794.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[16] Analog Devices, “LTC3108: Ultralow Voltage Step-Up Converter and Power Manager,” product information and datasheet, https://www.analog.com/en/products/LTC3108.html (accessed Oct. 12, 2026).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700"/>
              </a:spcAft>
            </a:pPr>
            <a:r>
              <a:rPr sz="1050" b="0" i="0">
                <a:solidFill>
                  <a:srgbClr val="1C202A"/>
                </a:solidFill>
                <a:latin typeface="Calibri"/>
              </a:rPr>
              <a:t>[17] Espressif Systems, “ESP32-C3 Series Datasheet,” v2.4, https://documentation.espressif.com/esp32-c3_datasheet_en.html (accessed Oct. 12, 2026).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607161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0" i="0">
                <a:solidFill>
                  <a:srgbClr val="586070"/>
                </a:solidFill>
                <a:latin typeface="Calibri"/>
              </a:rPr>
              <a:t>Paper references [1]–[15] plus manufacturer datasheets [16]–[17].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342</Words>
  <Application>Microsoft Office PowerPoint</Application>
  <PresentationFormat>Widescreen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Self-Powered Gym-Locker Beacon via Human Wearable Thermoelectric Harvesting — MDP Review-II</dc:title>
  <dc:subject>Review-II presentation; proposal-stage design and literature review</dc:subject>
  <dc:creator>MDP Team — SENSE, VIT Chennai</dc:creator>
  <cp:lastModifiedBy>Usha Kiran Kommuri</cp:lastModifiedBy>
  <cp:revision>4</cp:revision>
  <dcterms:created xsi:type="dcterms:W3CDTF">2026-08-27T09:57:11Z</dcterms:created>
  <dcterms:modified xsi:type="dcterms:W3CDTF">2026-10-08T04:43:45Z</dcterms:modified>
  <cp:keywords>wearable thermoelectric harvesting, LTC3108, supercapacitor, BLE, Review-II</cp:keywords>
</cp:coreProperties>
</file>